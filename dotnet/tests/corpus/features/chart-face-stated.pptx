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Liberation Serif"/>
              </a:defRPr>
            </a:pPr>
            <a:r>
              <a:rPr b="0" sz="1300" spc="-1" strike="noStrike">
                <a:solidFill>
                  <a:srgbClr val="000000"/>
                </a:solidFill>
                <a:latin typeface="Liberation Serif"/>
              </a:rPr>
              <a:t>Regional 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Liberation Serif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143</c:v>
                </c:pt>
                <c:pt idx="3">
                  <c:v>168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Liberation Serif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88</c:v>
                </c:pt>
                <c:pt idx="1">
                  <c:v>132</c:v>
                </c:pt>
                <c:pt idx="2">
                  <c:v>101</c:v>
                </c:pt>
                <c:pt idx="3">
                  <c:v>121</c:v>
                </c:pt>
              </c:numCache>
            </c:numRef>
          </c:val>
        </c:ser>
        <c:gapWidth val="100"/>
        <c:overlap val="0"/>
        <c:axId val="45785010"/>
        <c:axId val="40604658"/>
      </c:barChart>
      <c:catAx>
        <c:axId val="4578501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Liberation Serif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Liberation Serif"/>
                  </a:rPr>
                  <a:t>Quarter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09]mm/dd/yyyy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Liberation Serif"/>
              </a:defRPr>
            </a:pPr>
          </a:p>
        </c:txPr>
        <c:crossAx val="40604658"/>
        <c:crosses val="autoZero"/>
        <c:auto val="1"/>
        <c:lblAlgn val="ctr"/>
        <c:lblOffset val="100"/>
        <c:noMultiLvlLbl val="0"/>
      </c:catAx>
      <c:valAx>
        <c:axId val="4060465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Liberation Serif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Liberation Serif"/>
                  </a:rPr>
                  <a:t>Units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Liberation Serif"/>
              </a:defRPr>
            </a:pPr>
          </a:p>
        </c:txPr>
        <c:crossAx val="45785010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r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Liberation Serif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F0DEA-3594-4F90-AAB9-FBB9A2818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A99BF8-D668-4F2D-829C-5E9E3ABDC5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revenue chart"/>
          <p:cNvGraphicFramePr/>
          <p:nvPr/>
        </p:nvGraphicFramePr>
        <p:xfrm>
          <a:off x="540000" y="540000"/>
          <a:ext cx="79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Liberation Mono" pitchFamily="0" charset="1"/>
        <a:ea typeface="DejaVu Sans" pitchFamily="0" charset="1"/>
        <a:cs typeface="DejaVu Sans" pitchFamily="0" charset="1"/>
      </a:majorFont>
      <a:minorFont>
        <a:latin typeface="Liberation Mono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