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1"/>
          <p:cNvSpPr txBox="1"/>
          <p:nvPr/>
        </p:nvSpPr>
        <p:spPr>
          <a:xfrm>
            <a:off x="500000" y="300000"/>
            <a:ext cx="8000000" cy="52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457200" indent="-457200">
              <a:buFont typeface="Wingdings" charset="2"/>
              <a:buChar char=""/>
            </a:pPr>
            <a:r>
              <a:rPr lang="en-GB" sz="2000"/>
              <a:t>Wingdings F0D8 arrowhead</a:t>
            </a:r>
          </a:p>
        </p:txBody>
      </p:sp>
      <p:sp>
        <p:nvSpPr>
          <p:cNvPr id="3" name="Box2"/>
          <p:cNvSpPr txBox="1"/>
          <p:nvPr/>
        </p:nvSpPr>
        <p:spPr>
          <a:xfrm>
            <a:off x="500000" y="920000"/>
            <a:ext cx="8000000" cy="52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GB" sz="2000"/>
              <a:t>Wingdings 00D8 same slot</a:t>
            </a:r>
          </a:p>
        </p:txBody>
      </p:sp>
      <p:sp>
        <p:nvSpPr>
          <p:cNvPr id="4" name="Box3"/>
          <p:cNvSpPr txBox="1"/>
          <p:nvPr/>
        </p:nvSpPr>
        <p:spPr>
          <a:xfrm>
            <a:off x="500000" y="1540000"/>
            <a:ext cx="8000000" cy="52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457200" indent="-457200">
              <a:buFont typeface="Wingdings" charset="2"/>
              <a:buChar char="ü"/>
            </a:pPr>
            <a:r>
              <a:rPr lang="en-GB" sz="2000"/>
              <a:t>Wingdings 00FC commonest</a:t>
            </a:r>
          </a:p>
        </p:txBody>
      </p:sp>
      <p:sp>
        <p:nvSpPr>
          <p:cNvPr id="5" name="Box4"/>
          <p:cNvSpPr txBox="1"/>
          <p:nvPr/>
        </p:nvSpPr>
        <p:spPr>
          <a:xfrm>
            <a:off x="500000" y="2160000"/>
            <a:ext cx="8000000" cy="52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457200" indent="-457200">
              <a:buFont typeface="Wingdings" charset="2"/>
              <a:buChar char=""/>
            </a:pPr>
            <a:r>
              <a:rPr lang="en-GB" sz="2000"/>
              <a:t>Wingdings F06E circle</a:t>
            </a:r>
          </a:p>
        </p:txBody>
      </p:sp>
      <p:sp>
        <p:nvSpPr>
          <p:cNvPr id="6" name="Box5"/>
          <p:cNvSpPr txBox="1"/>
          <p:nvPr/>
        </p:nvSpPr>
        <p:spPr>
          <a:xfrm>
            <a:off x="500000" y="2780000"/>
            <a:ext cx="8000000" cy="52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457200" indent="-457200">
              <a:buFont typeface="Symbol" charset="2"/>
              <a:buChar char=""/>
            </a:pPr>
            <a:r>
              <a:rPr lang="en-GB" sz="2000"/>
              <a:t>Symbol F0B7 bullet</a:t>
            </a:r>
          </a:p>
        </p:txBody>
      </p:sp>
      <p:sp>
        <p:nvSpPr>
          <p:cNvPr id="7" name="Box6"/>
          <p:cNvSpPr txBox="1"/>
          <p:nvPr/>
        </p:nvSpPr>
        <p:spPr>
          <a:xfrm>
            <a:off x="500000" y="3400000"/>
            <a:ext cx="8000000" cy="52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457200" indent="-457200">
              <a:buFont typeface="Monotype Sorts" charset="2"/>
              <a:buChar char=""/>
            </a:pPr>
            <a:r>
              <a:rPr lang="en-GB" sz="2000"/>
              <a:t>Monotype Sorts F0D8</a:t>
            </a:r>
          </a:p>
        </p:txBody>
      </p:sp>
      <p:sp>
        <p:nvSpPr>
          <p:cNvPr id="8" name="Box7"/>
          <p:cNvSpPr txBox="1"/>
          <p:nvPr/>
        </p:nvSpPr>
        <p:spPr>
          <a:xfrm>
            <a:off x="500000" y="4020000"/>
            <a:ext cx="8000000" cy="52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457200" indent="-457200">
              <a:buFont typeface="Wingdings" charset="2"/>
              <a:buChar char=""/>
            </a:pPr>
            <a:r>
              <a:rPr lang="en-GB" sz="2000"/>
              <a:t>Wingdings F07F table hole</a:t>
            </a:r>
          </a:p>
        </p:txBody>
      </p:sp>
      <p:sp>
        <p:nvSpPr>
          <p:cNvPr id="9" name="Box8"/>
          <p:cNvSpPr txBox="1"/>
          <p:nvPr/>
        </p:nvSpPr>
        <p:spPr>
          <a:xfrm>
            <a:off x="500000" y="4640000"/>
            <a:ext cx="8000000" cy="52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457200" indent="-457200">
              <a:buFont typeface="Private Dingbat" charset="2"/>
              <a:buChar char=""/>
            </a:pPr>
            <a:r>
              <a:rPr lang="en-GB" sz="2000"/>
              <a:t>Unknown dingbat no table</a:t>
            </a:r>
          </a:p>
        </p:txBody>
      </p:sp>
      <p:sp>
        <p:nvSpPr>
          <p:cNvPr id="10" name="Box9"/>
          <p:cNvSpPr txBox="1"/>
          <p:nvPr/>
        </p:nvSpPr>
        <p:spPr>
          <a:xfrm>
            <a:off x="500000" y="5260000"/>
            <a:ext cx="8000000" cy="52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457200" indent="-457200">
              <a:buFont typeface="Calibri" charset="0"/>
              <a:buChar char="•"/>
            </a:pPr>
            <a:r>
              <a:rPr lang="en-GB" sz="2000"/>
              <a:t>Calibri plain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