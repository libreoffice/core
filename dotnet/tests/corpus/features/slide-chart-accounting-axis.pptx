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solidFill>
                  <a:srgbClr val="000000"/>
                </a:solidFill>
                <a:latin typeface="Arial"/>
              </a:defRPr>
            </a:pPr>
            <a:r>
              <a:rPr b="0" sz="1300" spc="-1" strike="noStrike">
                <a:solidFill>
                  <a:srgbClr val="000000"/>
                </a:solidFill>
                <a:latin typeface="Arial"/>
              </a:rPr>
              <a:t>Regional 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99ccff"/>
            </a:solidFill>
            <a:ln w="0">
              <a:solidFill>
                <a:srgbClr val="000000"/>
              </a:solidFill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120</c:v>
                </c:pt>
                <c:pt idx="1">
                  <c:v>95</c:v>
                </c:pt>
                <c:pt idx="2">
                  <c:v>143</c:v>
                </c:pt>
                <c:pt idx="3">
                  <c:v>168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99ccff"/>
            </a:solidFill>
            <a:ln w="0">
              <a:solidFill>
                <a:srgbClr val="000000"/>
              </a:solidFill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88</c:v>
                </c:pt>
                <c:pt idx="1">
                  <c:v>132</c:v>
                </c:pt>
                <c:pt idx="2">
                  <c:v>101</c:v>
                </c:pt>
                <c:pt idx="3">
                  <c:v>121</c:v>
                </c:pt>
              </c:numCache>
            </c:numRef>
          </c:val>
        </c:ser>
        <c:gapWidth val="100"/>
        <c:overlap val="0"/>
        <c:axId val="45785010"/>
        <c:axId val="40604658"/>
      </c:barChart>
      <c:catAx>
        <c:axId val="45785010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sz="900" spc="-1" strike="noStrike">
                    <a:solidFill>
                      <a:srgbClr val="000000"/>
                    </a:solidFill>
                    <a:latin typeface="Arial"/>
                  </a:rPr>
                  <a:t>Quarter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409]mm/dd/yyyy" sourceLinked="1"/>
        <c:majorTickMark val="out"/>
        <c:minorTickMark val="none"/>
        <c:tickLblPos val="nextTo"/>
        <c:spPr>
          <a:ln w="0">
            <a:solidFill>
              <a:srgbClr val="000000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40604658"/>
        <c:crosses val="autoZero"/>
        <c:auto val="1"/>
        <c:lblAlgn val="ctr"/>
        <c:lblOffset val="100"/>
        <c:noMultiLvlLbl val="0"/>
      </c:catAx>
      <c:valAx>
        <c:axId val="40604658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sz="900" spc="-1" strike="noStrike">
                    <a:solidFill>
                      <a:srgbClr val="000000"/>
                    </a:solidFill>
                    <a:latin typeface="Arial"/>
                  </a:rPr>
                  <a:t>Units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_(&quot;$&quot;* #,##0.00_);_(&quot;$&quot;* \(#,##0.00\);_(&quot;$&quot;* &quot;-&quot;??_);_(@_)" sourceLinked="0"/>
        <c:majorTickMark val="out"/>
        <c:minorTickMark val="none"/>
        <c:tickLblPos val="nextTo"/>
        <c:spPr>
          <a:ln w="0">
            <a:solidFill>
              <a:srgbClr val="000000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45785010"/>
        <c:crosses val="autoZero"/>
        <c:crossBetween val="between"/>
      </c:valAx>
      <c:spPr>
        <a:solidFill>
          <a:srgbClr val="d9d9d9"/>
        </a:solidFill>
        <a:ln w="0">
          <a:noFill/>
        </a:ln>
      </c:spPr>
    </c:plotArea>
    <c:legend>
      <c:legendPos val="r"/>
      <c:overlay val="0"/>
      <c:spPr>
        <a:noFill/>
        <a:ln w="0">
          <a:solidFill>
            <a:srgbClr val="000000"/>
          </a:solidFill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Arial"/>
            </a:defRPr>
          </a:pPr>
        </a:p>
      </c:txPr>
    </c:legend>
    <c:plotVisOnly val="0"/>
    <c:dispBlanksAs val="gap"/>
  </c:chart>
  <c:spPr>
    <a:solidFill>
      <a:srgbClr val="ffffff"/>
    </a:solidFill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4F0DEA-3594-4F90-AAB9-FBB9A28187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BA99BF8-D668-4F2D-829C-5E9E3ABDC5E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revenue chart"/>
          <p:cNvGraphicFramePr/>
          <p:nvPr/>
        </p:nvGraphicFramePr>
        <p:xfrm>
          <a:off x="540000" y="540000"/>
          <a:ext cx="792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